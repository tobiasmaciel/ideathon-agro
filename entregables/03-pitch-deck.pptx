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Somos el Equipo 13 y traemos Circular NEA: una plataforma para que los residuos de la agroindustria y la foresto-industria de Corrientes encuentren comprador, con números que muestran si el negocio cierra.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Corrientes produjo el 48,5 % del arroz del país en la campaña 2025/26 y tiene 516.771 hectáreas forestadas. Eso deja montañas de cascarilla y aserrín que en gran parte se queman o se tiran. Estimamos unas 150.000 toneladas de cascarilla por año solo del arroz.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¿Por qué pasa? La cascarilla suelta pesa 108 kilos por metro cúbico: el camión se llena de aire antes que de peso y el flete se come la ganancia. Además falta información sobre quién compra, y un aserradero chico solo no llena un camión.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Circular NEA es un mapa con 13 plantas y 10 compradores reales de la región, más lo que publique cualquiera. Elegís tu planta, un comprador y cómo vendés: suelto, compactado o pellet. La app calcula el margen después del flete y lo muestra con un semáforo.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momento clave. Con la cascarilla suelta, el radio viable es de unos 25 km por ruta. Pelletizada llega a unos 310 km: unas 12 veces más. El semáforo pasa de rojo a verde y el comprador ve cuánto ahorra frente a su combustible actual. Es un ejemplo del modelo con supuestos estimados, no un resultado de esas empresas; los precios reales se validan en el piloto.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Además es un mercado vivo y sin crear cuenta: publicás en un minuto, ves el contacto y el WhatsApp con un click, y la app te avisa cuando aparece un negocio compatible. Las publicaciones entran marcadas como sin verificar.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Pueden probarla ahora en el link o con el QR. Para el piloto buscamos cinco aserraderos y dos molinos con sus datos reales. La idea y el diseño son del Equipo 13; la programación tuvo asistencia de IA.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2.jpg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1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ideathon-agro-9u3t-flax.vercel.app/" TargetMode="External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711200" y="635000"/>
            <a:ext cx="952500" cy="952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63700"/>
            <a:ext cx="5588000" cy="25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7500" b="1" spc="-188">
                <a:solidFill>
                  <a:srgbClr val="141A17"/>
                </a:solidFill>
                <a:latin typeface="Geist"/>
              </a:rPr>
              <a:t>Circular</a:t>
            </a:r>
          </a:p>
          <a:p>
            <a:pPr algn="l">
              <a:lnSpc>
                <a:spcPct val="95000"/>
              </a:lnSpc>
            </a:pPr>
            <a:r>
              <a:rPr sz="7500" b="1" spc="-188">
                <a:solidFill>
                  <a:srgbClr val="447D5F"/>
                </a:solidFill>
                <a:latin typeface="Geist"/>
              </a:rPr>
              <a:t>NEA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292600"/>
            <a:ext cx="558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141A17"/>
                </a:solidFill>
                <a:latin typeface="Geist"/>
              </a:rPr>
              <a:t>El residuo que vuelve ingreso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5080000"/>
            <a:ext cx="5588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A17"/>
                </a:solidFill>
                <a:latin typeface="Geist"/>
              </a:rPr>
              <a:t>Equipo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5651500"/>
            <a:ext cx="5588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0" spc="160">
                <a:solidFill>
                  <a:srgbClr val="55605B"/>
                </a:solidFill>
                <a:latin typeface="Geist Mono"/>
              </a:rPr>
              <a:t>IDEATHON NEA TECH 2026</a:t>
            </a:r>
          </a:p>
        </p:txBody>
      </p:sp>
      <p:pic>
        <p:nvPicPr>
          <p:cNvPr id="7" name="Picture 6" descr="03-pellet.jpg"/>
          <p:cNvPicPr>
            <a:picLocks noChangeAspect="1"/>
          </p:cNvPicPr>
          <p:nvPr/>
        </p:nvPicPr>
        <p:blipFill>
          <a:blip r:embed="rId3"/>
          <a:srcRect l="9591" r="17812"/>
          <a:stretch>
            <a:fillRect/>
          </a:stretch>
        </p:blipFill>
        <p:spPr>
          <a:xfrm>
            <a:off x="6604000" y="1143000"/>
            <a:ext cx="4876800" cy="5168900"/>
          </a:xfrm>
          <a:prstGeom prst="rect">
            <a:avLst/>
          </a:prstGeom>
          <a:ln w="9525">
            <a:solidFill>
              <a:srgbClr val="DFE4E1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pp-light.png"/>
          <p:cNvPicPr>
            <a:picLocks noChangeAspect="1"/>
          </p:cNvPicPr>
          <p:nvPr/>
        </p:nvPicPr>
        <p:blipFill>
          <a:blip r:embed="rId2"/>
          <a:srcRect t="5000" b="500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1200" y="698500"/>
            <a:ext cx="9906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5400" b="1" spc="-135">
                <a:solidFill>
                  <a:srgbClr val="141A17"/>
                </a:solidFill>
                <a:latin typeface="Geist"/>
              </a:rPr>
              <a:t>Se quema lo que vale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2349500"/>
            <a:ext cx="5207000" cy="149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500" b="1">
                <a:solidFill>
                  <a:srgbClr val="141A17"/>
                </a:solidFill>
                <a:latin typeface="Geist Mono"/>
              </a:rPr>
              <a:t>48,5</a:t>
            </a:r>
            <a:r>
              <a:rPr sz="3600" b="1">
                <a:solidFill>
                  <a:srgbClr val="141A17"/>
                </a:solidFill>
                <a:latin typeface="Geist Mono"/>
              </a:rPr>
              <a:t>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3937000"/>
            <a:ext cx="4953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55605B"/>
                </a:solidFill>
                <a:latin typeface="Geist"/>
              </a:rPr>
              <a:t>del arroz del país sale de Corrientes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0" y="2349500"/>
            <a:ext cx="5130800" cy="149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500" b="1">
                <a:solidFill>
                  <a:srgbClr val="141A17"/>
                </a:solidFill>
                <a:latin typeface="Geist Mono"/>
              </a:rPr>
              <a:t>516.771</a:t>
            </a:r>
            <a:r>
              <a:rPr sz="3600" b="1">
                <a:solidFill>
                  <a:srgbClr val="141A17"/>
                </a:solidFill>
                <a:latin typeface="Geist Mono"/>
              </a:rPr>
              <a:t> 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0" y="3937000"/>
            <a:ext cx="51308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55605B"/>
                </a:solidFill>
                <a:latin typeface="Geist"/>
              </a:rPr>
              <a:t>forestadas: primera provincia forestal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5372100"/>
            <a:ext cx="9906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0" spc="160">
                <a:solidFill>
                  <a:srgbClr val="3A7254"/>
                </a:solidFill>
                <a:latin typeface="Geist Mono"/>
              </a:rPr>
              <a:t>DATO REAL · BICHOS DE CAMPO 2025/26 · CONICET 2019</a:t>
            </a:r>
          </a:p>
        </p:txBody>
      </p:sp>
      <p:pic>
        <p:nvPicPr>
          <p:cNvPr id="10" name="Picture 9" descr="icon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074400" y="609600"/>
            <a:ext cx="406400" cy="406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210800" y="60325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5F6A65"/>
                </a:solidFill>
                <a:latin typeface="Geist Mono"/>
              </a:rPr>
              <a:t>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1200" y="698500"/>
            <a:ext cx="9906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4800" b="1" spc="-120">
                <a:solidFill>
                  <a:srgbClr val="141A17"/>
                </a:solidFill>
                <a:latin typeface="Geist"/>
              </a:rPr>
              <a:t>El flete se come la ganancia</a:t>
            </a:r>
          </a:p>
        </p:txBody>
      </p:sp>
      <p:pic>
        <p:nvPicPr>
          <p:cNvPr id="3" name="Picture 2" descr="truck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711200" y="2540000"/>
            <a:ext cx="2032000" cy="203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175000" y="2095500"/>
            <a:ext cx="8255000" cy="2387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141A17"/>
                </a:solidFill>
                <a:latin typeface="Geist Mono"/>
              </a:rPr>
              <a:t>108</a:t>
            </a:r>
            <a:r>
              <a:rPr sz="4800" b="1">
                <a:solidFill>
                  <a:srgbClr val="141A17"/>
                </a:solidFill>
                <a:latin typeface="Geist Mono"/>
              </a:rPr>
              <a:t> kg/m³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75000" y="4546600"/>
            <a:ext cx="8255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55605B"/>
                </a:solidFill>
                <a:latin typeface="Geist"/>
              </a:rPr>
              <a:t>Cascarilla suelta: el camión se llena de aire</a:t>
            </a:r>
          </a:p>
        </p:txBody>
      </p:sp>
      <p:pic>
        <p:nvPicPr>
          <p:cNvPr id="6" name="Picture 5" descr="icon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074400" y="609600"/>
            <a:ext cx="406400" cy="406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210800" y="60325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5F6A65"/>
                </a:solidFill>
                <a:latin typeface="Geist Mono"/>
              </a:rPr>
              <a:t>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1200" y="660400"/>
            <a:ext cx="4826000" cy="187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5200" b="1" spc="-130">
                <a:solidFill>
                  <a:srgbClr val="141A17"/>
                </a:solidFill>
                <a:latin typeface="Geist"/>
              </a:rPr>
              <a:t>¿Cierra el negocio?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1200" y="2768600"/>
            <a:ext cx="508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3A7254"/>
                </a:solidFill>
                <a:latin typeface="Geist Mon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70000" y="2667000"/>
            <a:ext cx="4318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41A17"/>
                </a:solidFill>
                <a:latin typeface="Geist"/>
              </a:rPr>
              <a:t>Mapa de residuos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3721100"/>
            <a:ext cx="508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3A7254"/>
                </a:solidFill>
                <a:latin typeface="Geist Mono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70000" y="3619500"/>
            <a:ext cx="4318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41A17"/>
                </a:solidFill>
                <a:latin typeface="Geist"/>
              </a:rPr>
              <a:t>Margen después del flete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200" y="4673600"/>
            <a:ext cx="508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3A7254"/>
                </a:solidFill>
                <a:latin typeface="Geist Mono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0000" y="4572000"/>
            <a:ext cx="4318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41A17"/>
                </a:solidFill>
                <a:latin typeface="Geist"/>
              </a:rPr>
              <a:t>Semáforo: cierra o no</a:t>
            </a:r>
          </a:p>
        </p:txBody>
      </p:sp>
      <p:pic>
        <p:nvPicPr>
          <p:cNvPr id="9" name="Picture 8" descr="03-pellet.jpg"/>
          <p:cNvPicPr>
            <a:picLocks noChangeAspect="1"/>
          </p:cNvPicPr>
          <p:nvPr/>
        </p:nvPicPr>
        <p:blipFill>
          <a:blip r:embed="rId2"/>
          <a:srcRect l="3969" r="2433" t="0" b="0"/>
          <a:stretch>
            <a:fillRect/>
          </a:stretch>
        </p:blipFill>
        <p:spPr>
          <a:xfrm>
            <a:off x="5842000" y="1270000"/>
            <a:ext cx="5638800" cy="4635500"/>
          </a:xfrm>
          <a:prstGeom prst="rect">
            <a:avLst/>
          </a:prstGeom>
          <a:ln w="9525">
            <a:solidFill>
              <a:srgbClr val="DFE4E1"/>
            </a:solidFill>
          </a:ln>
        </p:spPr>
      </p:pic>
      <p:pic>
        <p:nvPicPr>
          <p:cNvPr id="10" name="Picture 9" descr="icon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074400" y="609600"/>
            <a:ext cx="406400" cy="406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210800" y="60325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5F6A65"/>
                </a:solidFill>
                <a:latin typeface="Geist Mono"/>
              </a:rPr>
              <a:t>04 / 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1200" y="698500"/>
            <a:ext cx="9525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4800" b="1" spc="-120">
                <a:solidFill>
                  <a:srgbClr val="141A17"/>
                </a:solidFill>
                <a:latin typeface="Geist"/>
              </a:rPr>
              <a:t>Pelletizar cambia el mapa</a:t>
            </a:r>
          </a:p>
        </p:txBody>
      </p:sp>
      <p:pic>
        <p:nvPicPr>
          <p:cNvPr id="3" name="Picture 2" descr="02-suelto.jpg"/>
          <p:cNvPicPr>
            <a:picLocks noChangeAspect="1"/>
          </p:cNvPicPr>
          <p:nvPr/>
        </p:nvPicPr>
        <p:blipFill>
          <a:blip r:embed="rId2"/>
          <a:srcRect t="15585" b="28943"/>
          <a:stretch>
            <a:fillRect/>
          </a:stretch>
        </p:blipFill>
        <p:spPr>
          <a:xfrm>
            <a:off x="711200" y="1651000"/>
            <a:ext cx="5207000" cy="2222500"/>
          </a:xfrm>
          <a:prstGeom prst="rect">
            <a:avLst/>
          </a:prstGeom>
          <a:ln w="9525">
            <a:solidFill>
              <a:srgbClr val="DFE4E1"/>
            </a:solidFill>
          </a:ln>
        </p:spPr>
      </p:pic>
      <p:pic>
        <p:nvPicPr>
          <p:cNvPr id="4" name="Picture 3" descr="03-pellet.jpg"/>
          <p:cNvPicPr>
            <a:picLocks noChangeAspect="1"/>
          </p:cNvPicPr>
          <p:nvPr/>
        </p:nvPicPr>
        <p:blipFill>
          <a:blip r:embed="rId3"/>
          <a:srcRect t="15585" b="28943"/>
          <a:stretch>
            <a:fillRect/>
          </a:stretch>
        </p:blipFill>
        <p:spPr>
          <a:xfrm>
            <a:off x="6273800" y="1651000"/>
            <a:ext cx="5207000" cy="2222500"/>
          </a:xfrm>
          <a:prstGeom prst="rect">
            <a:avLst/>
          </a:prstGeom>
          <a:ln w="9525">
            <a:solidFill>
              <a:srgbClr val="DFE4E1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11200" y="3962400"/>
            <a:ext cx="5207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0" spc="160">
                <a:solidFill>
                  <a:srgbClr val="A5523C"/>
                </a:solidFill>
                <a:latin typeface="Geist Mono"/>
              </a:rPr>
              <a:t>SUELTO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73800" y="3962400"/>
            <a:ext cx="5207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0" spc="160">
                <a:solidFill>
                  <a:srgbClr val="3A7254"/>
                </a:solidFill>
                <a:latin typeface="Geist Mono"/>
              </a:rPr>
              <a:t>PELLET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200" y="4445000"/>
            <a:ext cx="6477000" cy="1117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A5523C"/>
                </a:solidFill>
                <a:latin typeface="Geist Mono"/>
              </a:rPr>
              <a:t>25</a:t>
            </a:r>
            <a:r>
              <a:rPr sz="6600" b="1">
                <a:solidFill>
                  <a:srgbClr val="141A17"/>
                </a:solidFill>
                <a:latin typeface="Geist Mono"/>
              </a:rPr>
              <a:t> → </a:t>
            </a:r>
            <a:r>
              <a:rPr sz="6600" b="1">
                <a:solidFill>
                  <a:srgbClr val="3A7254"/>
                </a:solidFill>
                <a:latin typeface="Geist Mono"/>
              </a:rPr>
              <a:t>310 km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5613400"/>
            <a:ext cx="64770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55605B"/>
                </a:solidFill>
                <a:latin typeface="Geist"/>
              </a:rPr>
              <a:t>~12 veces más radio. Ejemplo con supuestos estimados.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6000" y="4445000"/>
            <a:ext cx="41148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spc="-80">
                <a:solidFill>
                  <a:srgbClr val="141A17"/>
                </a:solidFill>
                <a:latin typeface="Geist"/>
              </a:rPr>
              <a:t>De </a:t>
            </a:r>
            <a:r>
              <a:rPr sz="3200" b="1" spc="-80">
                <a:solidFill>
                  <a:srgbClr val="A5523C"/>
                </a:solidFill>
                <a:latin typeface="Geist"/>
              </a:rPr>
              <a:t>rojo</a:t>
            </a:r>
            <a:r>
              <a:rPr sz="3200" b="1" spc="-80">
                <a:solidFill>
                  <a:srgbClr val="141A17"/>
                </a:solidFill>
                <a:latin typeface="Geist"/>
              </a:rPr>
              <a:t> a </a:t>
            </a:r>
            <a:r>
              <a:rPr sz="3200" b="1" spc="-80">
                <a:solidFill>
                  <a:srgbClr val="3A7254"/>
                </a:solidFill>
                <a:latin typeface="Geist"/>
              </a:rPr>
              <a:t>verde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6000" y="5080000"/>
            <a:ext cx="41148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55605B"/>
                </a:solidFill>
                <a:latin typeface="Geist"/>
              </a:rPr>
              <a:t>Ahorro frente al GLP,</a:t>
            </a:r>
          </a:p>
          <a:p>
            <a:pPr algn="l">
              <a:lnSpc>
                <a:spcPct val="115000"/>
              </a:lnSpc>
            </a:pPr>
            <a:r>
              <a:rPr sz="2200" b="0">
                <a:solidFill>
                  <a:srgbClr val="55605B"/>
                </a:solidFill>
                <a:latin typeface="Geist"/>
              </a:rPr>
              <a:t>visible al instante</a:t>
            </a:r>
          </a:p>
        </p:txBody>
      </p:sp>
      <p:pic>
        <p:nvPicPr>
          <p:cNvPr id="11" name="Picture 10" descr="icon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1074400" y="609600"/>
            <a:ext cx="406400" cy="406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210800" y="60325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5F6A65"/>
                </a:solidFill>
                <a:latin typeface="Geist Mono"/>
              </a:rPr>
              <a:t>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1200" y="698500"/>
            <a:ext cx="9906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4800" b="1" spc="-120">
                <a:solidFill>
                  <a:srgbClr val="141A17"/>
                </a:solidFill>
                <a:latin typeface="Geist"/>
              </a:rPr>
              <a:t>Publicá. Conectá. Te avisamos.</a:t>
            </a:r>
          </a:p>
        </p:txBody>
      </p:sp>
      <p:pic>
        <p:nvPicPr>
          <p:cNvPr id="3" name="Picture 2" descr="04-publicar.jpg"/>
          <p:cNvPicPr>
            <a:picLocks noChangeAspect="1"/>
          </p:cNvPicPr>
          <p:nvPr/>
        </p:nvPicPr>
        <p:blipFill>
          <a:blip r:embed="rId2"/>
          <a:srcRect b="37828"/>
          <a:stretch>
            <a:fillRect/>
          </a:stretch>
        </p:blipFill>
        <p:spPr>
          <a:xfrm>
            <a:off x="711200" y="1714500"/>
            <a:ext cx="3352800" cy="3429000"/>
          </a:xfrm>
          <a:prstGeom prst="rect">
            <a:avLst/>
          </a:prstGeom>
          <a:ln w="9525">
            <a:solidFill>
              <a:srgbClr val="DFE4E1"/>
            </a:solidFill>
          </a:ln>
        </p:spPr>
      </p:pic>
      <p:pic>
        <p:nvPicPr>
          <p:cNvPr id="4" name="Picture 3" descr="05-contacto.jpg"/>
          <p:cNvPicPr>
            <a:picLocks noChangeAspect="1"/>
          </p:cNvPicPr>
          <p:nvPr/>
        </p:nvPicPr>
        <p:blipFill>
          <a:blip r:embed="rId3"/>
          <a:srcRect b="33610"/>
          <a:stretch>
            <a:fillRect/>
          </a:stretch>
        </p:blipFill>
        <p:spPr>
          <a:xfrm>
            <a:off x="4419600" y="1714500"/>
            <a:ext cx="3352800" cy="3429000"/>
          </a:xfrm>
          <a:prstGeom prst="rect">
            <a:avLst/>
          </a:prstGeom>
          <a:ln w="9525">
            <a:solidFill>
              <a:srgbClr val="DFE4E1"/>
            </a:solidFill>
          </a:ln>
        </p:spPr>
      </p:pic>
      <p:pic>
        <p:nvPicPr>
          <p:cNvPr id="5" name="Picture 4" descr="06-campanita.jpg"/>
          <p:cNvPicPr>
            <a:picLocks noChangeAspect="1"/>
          </p:cNvPicPr>
          <p:nvPr/>
        </p:nvPicPr>
        <p:blipFill>
          <a:blip r:embed="rId4"/>
          <a:srcRect l="31988" r="31988"/>
          <a:stretch>
            <a:fillRect/>
          </a:stretch>
        </p:blipFill>
        <p:spPr>
          <a:xfrm>
            <a:off x="8128000" y="1714500"/>
            <a:ext cx="3352800" cy="3429000"/>
          </a:xfrm>
          <a:prstGeom prst="rect">
            <a:avLst/>
          </a:prstGeom>
          <a:ln w="9525">
            <a:solidFill>
              <a:srgbClr val="DFE4E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11200" y="5308600"/>
            <a:ext cx="3352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A17"/>
                </a:solidFill>
                <a:latin typeface="Geist"/>
              </a:rPr>
              <a:t>En un minuto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19600" y="5308600"/>
            <a:ext cx="3352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A17"/>
                </a:solidFill>
                <a:latin typeface="Geist"/>
              </a:rPr>
              <a:t>WhatsApp en un click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0" y="5308600"/>
            <a:ext cx="3352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A17"/>
                </a:solidFill>
                <a:latin typeface="Geist"/>
              </a:rPr>
              <a:t>Aviso de match</a:t>
            </a:r>
          </a:p>
        </p:txBody>
      </p:sp>
      <p:pic>
        <p:nvPicPr>
          <p:cNvPr id="9" name="Picture 8" descr="icon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1074400" y="609600"/>
            <a:ext cx="406400" cy="406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210800" y="60325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5F6A65"/>
                </a:solidFill>
                <a:latin typeface="Geist Mono"/>
              </a:rPr>
              <a:t>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1200" y="698500"/>
            <a:ext cx="9525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5400" b="1" spc="-135">
                <a:solidFill>
                  <a:srgbClr val="141A17"/>
                </a:solidFill>
                <a:latin typeface="Geist"/>
              </a:rPr>
              <a:t>Probalo ahora</a:t>
            </a:r>
          </a:p>
        </p:txBody>
      </p:sp>
      <p:pic>
        <p:nvPicPr>
          <p:cNvPr id="3" name="Picture 2" descr="qr-demo.png">
            <a:hlinkClick r:id="rId3"/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711200" y="1905000"/>
            <a:ext cx="2413000" cy="2413000"/>
          </a:xfrm>
          <a:prstGeom prst="rect">
            <a:avLst/>
          </a:prstGeom>
          <a:ln w="9525">
            <a:solidFill>
              <a:srgbClr val="DFE4E1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556000" y="2095500"/>
            <a:ext cx="79248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spc="-80">
                <a:solidFill>
                  <a:srgbClr val="3A7254"/>
                </a:solidFill>
                <a:latin typeface="Geist"/>
                <a:hlinkClick r:id="rId3"/>
              </a:rPr>
              <a:t>ideathon-agro-9u3t-flax.vercel.app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0" y="2984500"/>
            <a:ext cx="79248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spc="-80">
                <a:solidFill>
                  <a:srgbClr val="141A17"/>
                </a:solidFill>
                <a:latin typeface="Geist"/>
              </a:rPr>
              <a:t>Equipo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711200" y="4826000"/>
            <a:ext cx="10769600" cy="12700"/>
          </a:xfrm>
          <a:prstGeom prst="rect">
            <a:avLst/>
          </a:prstGeom>
          <a:solidFill>
            <a:srgbClr val="DF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1200" y="5016500"/>
            <a:ext cx="107696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55605B"/>
                </a:solidFill>
                <a:latin typeface="Geist"/>
              </a:rPr>
              <a:t>Programado con asistencia de IA. Idea y diseño: Equipo 13.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55605B"/>
                </a:solidFill>
                <a:latin typeface="Geist"/>
              </a:rPr>
              <a:t>Componentes previos: no aplica (no reutilizamos desarrollos propios anteriores).</a:t>
            </a:r>
          </a:p>
        </p:txBody>
      </p:sp>
      <p:pic>
        <p:nvPicPr>
          <p:cNvPr id="8" name="Picture 7" descr="icon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1074400" y="609600"/>
            <a:ext cx="406400" cy="406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210800" y="60325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5F6A65"/>
                </a:solidFill>
                <a:latin typeface="Geist Mono"/>
              </a:rPr>
              <a:t>07 /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