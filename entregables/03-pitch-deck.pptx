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Somos el Equipo 13 y creamos Sobra: un mapa de oferta y demanda de biomasa para que los residuos de aserraderos y molinos arroceros de Corrientes encuentren comprador con un número que dice si el negocio cierra.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200.000 toneladas por año se queman solo en Santa Rosa, más la cascarilla del primer productor arrocero del país. No es basura: es combustible. Pero el que la tiene no sabe quién la compra ni si el flete se come la ganancia.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cascarilla suelta pesa tan poco que el camión se llena de aire antes que de carga: más allá de 25 km no conviene. En pellet entra toda la carga y viaja 12 veces más lejos, hasta 310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eso creamos Sobra: un mapa de oferta y demanda de biomasa que para cada vendedor y cada comprador responde una sola pregunta: ¿cierra el negocio?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Molinos Ala en Mercedes quiere venderle al Frigorífico Duhalde a 88 km. Si va suelta, pierde 2,26 millones por mes. Con un clic a pellet, viaja 12 veces más lejos y el trato deja casi 2 millones de pesos por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al frigorífico le ahorra 15 millones por mes frente al gas envasado que utiliza hoy. Además, cada número de la plataforma muestra si es real o estimado y enlaza a su fuente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Sobra publicás lo que tenés o buscás en un minuto sin crear cuenta, ves el contacto directo y recibís alertas. Para el aserradero es ingreso, para la industria energía barata y un solo acuerdo evita 500 toneladas de CO2 al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esto los invitamos a probar Sobra, que pasa del residuo al mercado, con un número que te cierra.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ideathon-agro-web.vercel.app/" TargetMode="External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400" y="660400"/>
            <a:ext cx="711200" cy="71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0" y="635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1" spc="-96">
                <a:solidFill>
                  <a:srgbClr val="FFFFFF"/>
                </a:solidFill>
                <a:latin typeface="Segoe UI"/>
              </a:rPr>
              <a:t>Sobra</a:t>
            </a:r>
            <a:r>
              <a:rPr sz="4800" b="1" spc="-96">
                <a:solidFill>
                  <a:srgbClr val="7AA7FF"/>
                </a:solidFill>
                <a:latin typeface="Segoe U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1727200"/>
            <a:ext cx="4699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spc="-88">
                <a:solidFill>
                  <a:srgbClr val="FFFFFF"/>
                </a:solidFill>
                <a:latin typeface="Segoe UI"/>
              </a:rPr>
              <a:t>Del residuo</a:t>
            </a:r>
          </a:p>
          <a:p>
            <a:pPr algn="l">
              <a:lnSpc>
                <a:spcPct val="100000"/>
              </a:lnSpc>
            </a:pPr>
            <a:r>
              <a:rPr sz="4400" b="1" spc="-88">
                <a:solidFill>
                  <a:srgbClr val="7AA7FF"/>
                </a:solidFill>
                <a:latin typeface="Segoe UI"/>
              </a:rPr>
              <a:t>al mercado.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3530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D3DEF3"/>
                </a:solidFill>
                <a:latin typeface="Segoe UI"/>
              </a:rPr>
              <a:t>El mapa que dice si tu biomasa cierra después del flete.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4953000"/>
            <a:ext cx="4699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Equipo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5537200"/>
            <a:ext cx="4699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7AA7FF"/>
                </a:solidFill>
                <a:latin typeface="Consolas"/>
              </a:rPr>
              <a:t>IDEATHON NEA TECH 2026</a:t>
            </a:r>
          </a:p>
        </p:txBody>
      </p:sp>
      <p:pic>
        <p:nvPicPr>
          <p:cNvPr id="8" name="Picture 7" descr="00-portad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89600" y="1651000"/>
            <a:ext cx="5892800" cy="3314700"/>
          </a:xfrm>
          <a:prstGeom prst="rect">
            <a:avLst/>
          </a:prstGeom>
          <a:ln w="19050">
            <a:solidFill>
              <a:srgbClr val="2150E8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01 ·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114300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1" spc="-84">
                <a:solidFill>
                  <a:srgbClr val="0A1433"/>
                </a:solidFill>
                <a:latin typeface="Segoe UI"/>
              </a:rPr>
              <a:t>Se quema lo que es combustible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2159000"/>
            <a:ext cx="3429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13000"/>
            <a:ext cx="2921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B5402A"/>
                </a:solidFill>
                <a:latin typeface="Consolas"/>
              </a:rPr>
              <a:t>200 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9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3D4D7A"/>
                </a:solidFill>
                <a:latin typeface="Segoe UI"/>
              </a:rPr>
              <a:t>toneladas al año se queman solo en Santa Rosa.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500" y="2159000"/>
            <a:ext cx="3429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5500" y="2413000"/>
            <a:ext cx="2921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2150E8"/>
                </a:solidFill>
                <a:latin typeface="Consolas"/>
              </a:rPr>
              <a:t>48,5 %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500" y="3429000"/>
            <a:ext cx="29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3D4D7A"/>
                </a:solidFill>
                <a:latin typeface="Segoe UI"/>
              </a:rPr>
              <a:t>del arroz del país sale de Corrientes.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2600" y="2159000"/>
            <a:ext cx="34290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600" y="2413000"/>
            <a:ext cx="2921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A1433"/>
                </a:solidFill>
                <a:latin typeface="Consolas"/>
              </a:rPr>
              <a:t>516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600" y="3429000"/>
            <a:ext cx="2921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3D4D7A"/>
                </a:solidFill>
                <a:latin typeface="Segoe UI"/>
              </a:rPr>
              <a:t>hectáreas forestadas: primera potencia nacional.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5181600"/>
            <a:ext cx="9144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0A1433"/>
                </a:solidFill>
                <a:latin typeface="Segoe UI"/>
              </a:rPr>
              <a:t>Falta saber quién compra y si el camión se come la ganancia.</a:t>
            </a:r>
          </a:p>
        </p:txBody>
      </p:sp>
      <p:pic>
        <p:nvPicPr>
          <p:cNvPr id="14" name="Picture 13" descr="ic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76000" y="558800"/>
            <a:ext cx="406400" cy="406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33000" y="5943600"/>
            <a:ext cx="1549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600" b="1">
                <a:solidFill>
                  <a:srgbClr val="5B6B94"/>
                </a:solidFill>
                <a:latin typeface="Consola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02 · EL CUELLO DE BOTELLA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114300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1" spc="-84">
                <a:solidFill>
                  <a:srgbClr val="0A1433"/>
                </a:solidFill>
                <a:latin typeface="Segoe UI"/>
              </a:rPr>
              <a:t>Un camión lleno de 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" y="2159000"/>
            <a:ext cx="5207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5200" y="2387600"/>
            <a:ext cx="45974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B5402A"/>
                </a:solidFill>
                <a:latin typeface="Consolas"/>
              </a:rPr>
              <a:t>CASCARILLA SUELTA · 108 KG/M³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2921000"/>
            <a:ext cx="45974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B5402A"/>
                </a:solidFill>
                <a:latin typeface="Consolas"/>
              </a:rPr>
              <a:t>25 km máx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4013200"/>
            <a:ext cx="45974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3D4D7A"/>
                </a:solidFill>
                <a:latin typeface="Segoe UI"/>
              </a:rPr>
              <a:t>70 % del camión viaja con aire: solo entran 9,7 t de las 30 t posibles.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9200" y="2159000"/>
            <a:ext cx="5207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0" y="2387600"/>
            <a:ext cx="45974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17784A"/>
                </a:solidFill>
                <a:latin typeface="Consolas"/>
              </a:rPr>
              <a:t>EN PELLET · 650 KG/M³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2921000"/>
            <a:ext cx="45974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7784A"/>
                </a:solidFill>
                <a:latin typeface="Consolas"/>
              </a:rPr>
              <a:t>310 km (12x)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0" y="4013200"/>
            <a:ext cx="45974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3D4D7A"/>
                </a:solidFill>
                <a:latin typeface="Segoe UI"/>
              </a:rPr>
              <a:t>Carga las 30 t completas y multiplica 12 veces el radio rentable.</a:t>
            </a:r>
          </a:p>
        </p:txBody>
      </p:sp>
      <p:pic>
        <p:nvPicPr>
          <p:cNvPr id="12" name="Picture 11" descr="ic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76000" y="558800"/>
            <a:ext cx="406400" cy="406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33000" y="5943600"/>
            <a:ext cx="1549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600" b="1">
                <a:solidFill>
                  <a:srgbClr val="5B6B94"/>
                </a:solidFill>
                <a:latin typeface="Consola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4445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03 ·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1143000"/>
            <a:ext cx="4572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spc="-84">
                <a:solidFill>
                  <a:srgbClr val="0A1433"/>
                </a:solidFill>
                <a:latin typeface="Segoe UI"/>
              </a:rPr>
              <a:t>¿Cierra el</a:t>
            </a:r>
          </a:p>
          <a:p>
            <a:pPr algn="l">
              <a:lnSpc>
                <a:spcPct val="100000"/>
              </a:lnSpc>
            </a:pPr>
            <a:r>
              <a:rPr sz="4200" b="1" spc="-84">
                <a:solidFill>
                  <a:srgbClr val="2150E8"/>
                </a:solidFill>
                <a:latin typeface="Segoe UI"/>
              </a:rPr>
              <a:t>negocio?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2857500"/>
            <a:ext cx="457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2150E8"/>
                </a:solidFill>
                <a:latin typeface="Consolas"/>
              </a:rPr>
              <a:t>01  </a:t>
            </a:r>
            <a:r>
              <a:rPr sz="2100" b="1">
                <a:solidFill>
                  <a:srgbClr val="0A1433"/>
                </a:solidFill>
                <a:latin typeface="Segoe UI"/>
              </a:rPr>
              <a:t>13 plantas y 10 industrias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3810000"/>
            <a:ext cx="457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2150E8"/>
                </a:solidFill>
                <a:latin typeface="Consolas"/>
              </a:rPr>
              <a:t>02  </a:t>
            </a:r>
            <a:r>
              <a:rPr sz="2100" b="1">
                <a:solidFill>
                  <a:srgbClr val="0A1433"/>
                </a:solidFill>
                <a:latin typeface="Segoe UI"/>
              </a:rPr>
              <a:t>Simula suelto o pellet en 1 clic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4762500"/>
            <a:ext cx="457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2150E8"/>
                </a:solidFill>
                <a:latin typeface="Consolas"/>
              </a:rPr>
              <a:t>03  </a:t>
            </a:r>
            <a:r>
              <a:rPr sz="2100" b="1">
                <a:solidFill>
                  <a:srgbClr val="0A1433"/>
                </a:solidFill>
                <a:latin typeface="Segoe UI"/>
              </a:rPr>
              <a:t>Semáforo de margen neto real</a:t>
            </a:r>
          </a:p>
        </p:txBody>
      </p:sp>
      <p:pic>
        <p:nvPicPr>
          <p:cNvPr id="7" name="Picture 6" descr="01-inici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35600" y="1651000"/>
            <a:ext cx="6096000" cy="3429000"/>
          </a:xfrm>
          <a:prstGeom prst="rect">
            <a:avLst/>
          </a:prstGeom>
          <a:ln w="19050">
            <a:solidFill>
              <a:srgbClr val="2150E8"/>
            </a:solidFill>
          </a:ln>
        </p:spPr>
      </p:pic>
      <p:pic>
        <p:nvPicPr>
          <p:cNvPr id="8" name="Picture 7" descr="ico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76000" y="558800"/>
            <a:ext cx="406400" cy="40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33000" y="5943600"/>
            <a:ext cx="1549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600" b="1">
                <a:solidFill>
                  <a:srgbClr val="5B6B94"/>
                </a:solidFill>
                <a:latin typeface="Consola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9525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04 · DEMO REAL · MOLINOS ALA A FRIGORÍFICO DUHALDE (88 KM)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1117600"/>
            <a:ext cx="10160000" cy="73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800" b="1" spc="-76">
                <a:solidFill>
                  <a:srgbClr val="0A1433"/>
                </a:solidFill>
                <a:latin typeface="Segoe UI"/>
              </a:rPr>
              <a:t>De pérdida a ganancia en un clic</a:t>
            </a:r>
          </a:p>
        </p:txBody>
      </p:sp>
      <p:pic>
        <p:nvPicPr>
          <p:cNvPr id="4" name="Picture 3" descr="02-suelt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400" y="1968500"/>
            <a:ext cx="5080000" cy="2857500"/>
          </a:xfrm>
          <a:prstGeom prst="rect">
            <a:avLst/>
          </a:prstGeom>
          <a:ln w="19050">
            <a:solidFill>
              <a:srgbClr val="2150E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4953000"/>
            <a:ext cx="508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B5402A"/>
                </a:solidFill>
                <a:latin typeface="Consolas"/>
              </a:rPr>
              <a:t>SUELTO · RADIO 25 KM · NO CIERRA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5435600"/>
            <a:ext cx="5080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B5402A"/>
                </a:solidFill>
                <a:latin typeface="Consolas"/>
              </a:rPr>
              <a:t>-$ 2,26 M / mes (-281 %)</a:t>
            </a:r>
          </a:p>
        </p:txBody>
      </p:sp>
      <p:pic>
        <p:nvPicPr>
          <p:cNvPr id="7" name="Picture 6" descr="03-pelle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1968500"/>
            <a:ext cx="5080000" cy="2857500"/>
          </a:xfrm>
          <a:prstGeom prst="rect">
            <a:avLst/>
          </a:prstGeom>
          <a:ln w="19050">
            <a:solidFill>
              <a:srgbClr val="2150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096000" y="4953000"/>
            <a:ext cx="508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17784A"/>
                </a:solidFill>
                <a:latin typeface="Consolas"/>
              </a:rPr>
              <a:t>PELLET · RADIO 310 KM · CIERRA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5435600"/>
            <a:ext cx="3810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7784A"/>
                </a:solidFill>
                <a:latin typeface="Consolas"/>
              </a:rPr>
              <a:t>+$ 1,93 M / mes</a:t>
            </a:r>
          </a:p>
        </p:txBody>
      </p:sp>
      <p:pic>
        <p:nvPicPr>
          <p:cNvPr id="10" name="Picture 9" descr="icon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76000" y="558800"/>
            <a:ext cx="406400" cy="40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33000" y="5943600"/>
            <a:ext cx="1549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600" b="1">
                <a:solidFill>
                  <a:srgbClr val="5B6B94"/>
                </a:solidFill>
                <a:latin typeface="Consola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4826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05 · AHORRO Y FUENTES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400" y="1168400"/>
            <a:ext cx="4572000" cy="2095500"/>
          </a:xfrm>
          <a:prstGeom prst="rect">
            <a:avLst/>
          </a:prstGeom>
          <a:solidFill>
            <a:srgbClr val="0B1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462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7AA7FF"/>
                </a:solidFill>
                <a:latin typeface="Consolas"/>
              </a:rPr>
              <a:t>-$ 15 M / 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35200"/>
            <a:ext cx="4064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FFFFFF"/>
                </a:solidFill>
                <a:latin typeface="Segoe UI"/>
              </a:rPr>
              <a:t>Ahorra el frigorífico frente al gas envasado (GLP).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400" y="3454400"/>
            <a:ext cx="457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064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CADA NÚMERO CON SU FUENTE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91000"/>
            <a:ext cx="4064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3D4D7A"/>
                </a:solidFill>
                <a:latin typeface="Segoe UI"/>
              </a:rPr>
              <a:t>Tarifas FETRA 2026, GLP 2026, CONICET e IPCC con etiqueta Real o Estimado.</a:t>
            </a:r>
          </a:p>
        </p:txBody>
      </p:sp>
      <p:pic>
        <p:nvPicPr>
          <p:cNvPr id="9" name="Picture 8" descr="07-fuente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35600" y="1651000"/>
            <a:ext cx="6096000" cy="3429000"/>
          </a:xfrm>
          <a:prstGeom prst="rect">
            <a:avLst/>
          </a:prstGeom>
          <a:ln w="19050">
            <a:solidFill>
              <a:srgbClr val="2150E8"/>
            </a:solidFill>
          </a:ln>
        </p:spPr>
      </p:pic>
      <p:pic>
        <p:nvPicPr>
          <p:cNvPr id="10" name="Picture 9" descr="ico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76000" y="558800"/>
            <a:ext cx="406400" cy="406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33000" y="5943600"/>
            <a:ext cx="1549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600" b="1">
                <a:solidFill>
                  <a:srgbClr val="5B6B94"/>
                </a:solidFill>
                <a:latin typeface="Consola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9525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06 · MERCADO ACTIVO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1117600"/>
            <a:ext cx="5080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spc="-68">
                <a:solidFill>
                  <a:srgbClr val="0A1433"/>
                </a:solidFill>
                <a:latin typeface="Segoe UI"/>
              </a:rPr>
              <a:t>Publicás en 1 minuto</a:t>
            </a:r>
          </a:p>
        </p:txBody>
      </p:sp>
      <p:pic>
        <p:nvPicPr>
          <p:cNvPr id="4" name="Picture 3" descr="06-campanita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400" y="1905000"/>
            <a:ext cx="5080000" cy="2857500"/>
          </a:xfrm>
          <a:prstGeom prst="rect">
            <a:avLst/>
          </a:prstGeom>
          <a:ln w="19050">
            <a:solidFill>
              <a:srgbClr val="2150E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60400" y="4914900"/>
            <a:ext cx="5080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0">
                <a:solidFill>
                  <a:srgbClr val="3D4D7A"/>
                </a:solidFill>
                <a:latin typeface="Segoe UI"/>
              </a:rPr>
              <a:t>Sin cuenta: contacto directo por WhatsApp y alertas de negocio.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117600"/>
            <a:ext cx="54356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0" y="1257300"/>
            <a:ext cx="492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1 · FREEMIUM B2B + COMISIÓN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1752600"/>
            <a:ext cx="4927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3D4D7A"/>
                </a:solidFill>
                <a:latin typeface="Segoe UI"/>
              </a:rPr>
              <a:t>Publicar gratis; plan pro y comisión por trato.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2743200"/>
            <a:ext cx="54356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882900"/>
            <a:ext cx="492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spc="80">
                <a:solidFill>
                  <a:srgbClr val="2150E8"/>
                </a:solidFill>
                <a:latin typeface="Consolas"/>
              </a:rPr>
              <a:t>2 · TABLERO PARA CORRIENTES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378200"/>
            <a:ext cx="4927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3D4D7A"/>
                </a:solidFill>
                <a:latin typeface="Segoe UI"/>
              </a:rPr>
              <a:t>Menos humo, menos GLP y datos para planificar.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0" y="4368800"/>
            <a:ext cx="5435600" cy="1422400"/>
          </a:xfrm>
          <a:prstGeom prst="rect">
            <a:avLst/>
          </a:prstGeom>
          <a:solidFill>
            <a:srgbClr val="0B1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0" y="4495800"/>
            <a:ext cx="49276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7AA7FF"/>
                </a:solidFill>
                <a:latin typeface="Consolas"/>
              </a:rPr>
              <a:t>~500 t CO2 / 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0" y="5181600"/>
            <a:ext cx="3556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0">
                <a:solidFill>
                  <a:srgbClr val="FFFFFF"/>
                </a:solidFill>
                <a:latin typeface="Segoe UI"/>
              </a:rPr>
              <a:t>Evitadas por acuerdo.</a:t>
            </a:r>
          </a:p>
        </p:txBody>
      </p:sp>
      <p:pic>
        <p:nvPicPr>
          <p:cNvPr id="15" name="Picture 14" descr="ico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76000" y="558800"/>
            <a:ext cx="406400" cy="406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33000" y="5943600"/>
            <a:ext cx="15494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600" b="1">
                <a:solidFill>
                  <a:srgbClr val="5B6B94"/>
                </a:solidFill>
                <a:latin typeface="Consola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0400" y="660400"/>
            <a:ext cx="711200" cy="71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0" y="63500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1" spc="-96">
                <a:solidFill>
                  <a:srgbClr val="FFFFFF"/>
                </a:solidFill>
                <a:latin typeface="Segoe UI"/>
              </a:rPr>
              <a:t>Sobra</a:t>
            </a:r>
            <a:r>
              <a:rPr sz="4800" b="1" spc="-96">
                <a:solidFill>
                  <a:srgbClr val="7AA7FF"/>
                </a:solidFill>
                <a:latin typeface="Segoe U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400" y="1727200"/>
            <a:ext cx="6858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spc="-88">
                <a:solidFill>
                  <a:srgbClr val="FFFFFF"/>
                </a:solidFill>
                <a:latin typeface="Segoe UI"/>
              </a:rPr>
              <a:t>Con un número</a:t>
            </a:r>
          </a:p>
          <a:p>
            <a:pPr algn="l">
              <a:lnSpc>
                <a:spcPct val="100000"/>
              </a:lnSpc>
            </a:pPr>
            <a:r>
              <a:rPr sz="4400" b="1" spc="-88">
                <a:solidFill>
                  <a:srgbClr val="7AA7FF"/>
                </a:solidFill>
                <a:latin typeface="Segoe UI"/>
              </a:rPr>
              <a:t>que te cierra.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3556000"/>
            <a:ext cx="685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7AA7FF"/>
                </a:solidFill>
                <a:latin typeface="Consolas"/>
                <a:hlinkClick r:id="rId3"/>
              </a:rPr>
              <a:t>ideathon-agro-web.vercel.app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4368800"/>
            <a:ext cx="6858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Equipo 13 · Ideathon NEA Tech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5029200"/>
            <a:ext cx="6858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D3DEF3"/>
                </a:solidFill>
                <a:latin typeface="Segoe UI"/>
              </a:rPr>
              <a:t>Idea y diseño: Equipo 13. Programación con asistencia de IA. Datos reales con fuente oficial.</a:t>
            </a:r>
          </a:p>
        </p:txBody>
      </p:sp>
      <p:pic>
        <p:nvPicPr>
          <p:cNvPr id="8" name="Picture 7" descr="qr-demo.png">
            <a:hlinkClick r:id="rId3"/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31200" y="1524000"/>
            <a:ext cx="3048000" cy="3048000"/>
          </a:xfrm>
          <a:prstGeom prst="rect">
            <a:avLst/>
          </a:prstGeom>
          <a:ln w="19050">
            <a:solidFill>
              <a:srgbClr val="2150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331200" y="48006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000" b="1" spc="80">
                <a:solidFill>
                  <a:srgbClr val="7AA7FF"/>
                </a:solidFill>
                <a:latin typeface="Consolas"/>
              </a:rPr>
              <a:t>PROBÁ SOBRA AHORA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